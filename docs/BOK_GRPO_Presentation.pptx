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i="0">
                <a:solidFill>
                  <a:srgbClr val="8B2C2C"/>
                </a:solidFill>
                <a:latin typeface="Crimson Pro SemiBold"/>
              </a:rPr>
              <a:t>BOK-GRPO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  <a:latin typeface="Inter"/>
              </a:rPr>
              <a:t>Best-of-K Group Relative Policy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444444"/>
                </a:solidFill>
                <a:latin typeface="Inter"/>
              </a:rPr>
              <a:t>Interleaved Point-to-Count for VLM Object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  <a:latin typeface="Inter"/>
              </a:rPr>
              <a:t>Collapsing pass@K capability into pass@1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606040"/>
            <a:ext cx="146304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The pass@K Gap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42976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Implication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pass@1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79.2%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Current single-attempt accuracy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pass@32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95.2%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Latent capability with 32 attempts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Gap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16.0pp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Untapped potential to recover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313432"/>
            <a:ext cx="3840480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01600"/>
          <a:lstStyle/>
          <a:p>
            <a:pPr algn="ctr"/>
            <a:r>
              <a:rPr sz="1500" b="1" i="1">
                <a:solidFill>
                  <a:srgbClr val="8B2C2C"/>
                </a:solidFill>
                <a:latin typeface="Crimson Pro"/>
              </a:rPr>
              <a:t>Standard GRPO  ✗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A=(r−μ)/σ → vanishing gradients when σ→0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14/16 correct → no signal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Cannot differentiate among high-reward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2313432"/>
            <a:ext cx="3840480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01600"/>
          <a:lstStyle/>
          <a:p>
            <a:pPr algn="ctr"/>
            <a:r>
              <a:rPr sz="1500" b="1" i="1">
                <a:solidFill>
                  <a:srgbClr val="8B2C2C"/>
                </a:solidFill>
                <a:latin typeface="Crimson Pro"/>
              </a:rPr>
              <a:t>BOK-GRPO  ✓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A=(softmax(z/τ)−1/K)×K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Always separates best from rest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τ annealing: explore → focus on single best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Interleaved Paradigm (Turn Table)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286000"/>
                <a:gridCol w="274320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Turn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Model Output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Environment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Original image + question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&lt;point&gt;{x,y count:1}&lt;/point&gt;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Draw red dot #1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Image + 1 red dot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&lt;point&gt;{x,y count:2}&lt;/point&gt;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Draw red dot #2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⋮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Image + (k−1) dots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&lt;point&gt;{x,y count:k}&lt;/point&gt;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Draw red dot #k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N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Image + (N−1) dots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&lt;answer&gt;N&lt;/answer&gt;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→ STOP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606040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Why Interleaved?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Humans count by pointing one-by-one. Sequential pointing = explicit attention shift. Each red dot = visual memory preventing double-counting.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Why Interleaved? (Comparison)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920240"/>
                <a:gridCol w="210312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Aspect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Single-Turn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Interleaved (Ours)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Better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Attention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Must track all at once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One object per turn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Reduces cognitive load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Feedback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No mid-process signal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Red dot visual memory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Prevents double-counting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Error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Silent cumulative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Detectable per-step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Enables dense reward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Scalability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Degrades with count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Linear with N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Handles 1−50 objects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Training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Sparse reward only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Dense per-step reward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Better RL signal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Core Algorithm — Softmax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05840"/>
            <a:ext cx="7955279" cy="411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50800"/>
          <a:lstStyle/>
          <a:p>
            <a:pPr algn="l"/>
            <a:r>
              <a:rPr sz="1400" b="0" i="1">
                <a:solidFill>
                  <a:srgbClr val="8B2C2C"/>
                </a:solidFill>
                <a:latin typeface="Crimson Pro"/>
              </a:rPr>
              <a:t>Standard GRPO:  Aᵢ = (rᵢ − μ) / σ   →  σ→0 when 14/16 correct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7955279" cy="411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50800"/>
          <a:lstStyle/>
          <a:p>
            <a:pPr algn="l"/>
            <a:r>
              <a:rPr sz="1400" b="0" i="1">
                <a:solidFill>
                  <a:srgbClr val="8B2C2C"/>
                </a:solidFill>
                <a:latin typeface="Crimson Pro"/>
              </a:rPr>
              <a:t>BOK-GRPO:  wᵢ = softmax(zᵢ/τ)    Aᵢ = (wᵢ − 1/K) × K    where zᵢ = (rᵢ−μ)/σ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2103120"/>
          <a:ext cx="7955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τ Value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Behavior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This Range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τ→0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Winner-take-all (pure BoK)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Maximum pressure, potentially unstable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τ=0.3−0.7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Top-K concentration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Practical: strong signal, still stable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τ→∞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Uniform (≈ std GRPO)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No selection pressure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Temperature Annealing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05840"/>
            <a:ext cx="7955279" cy="411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50800"/>
          <a:lstStyle/>
          <a:p>
            <a:pPr algn="l"/>
            <a:r>
              <a:rPr sz="1400" b="0" i="1">
                <a:solidFill>
                  <a:srgbClr val="8B2C2C"/>
                </a:solidFill>
                <a:latin typeface="Crimson Pro"/>
              </a:rPr>
              <a:t>τ(t) = τ_f + (τ₀ − τ_f) × ½ × (1 + cos(πt/T))     [0.5 → 0.3]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Why τ_init=0.5, τ_final=0.3?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Early: policy is noisy → broader credit (τ=0.5) avoids premature convergence. Late: policy refined → sharper selection (τ=0.3) focuses on single best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Cosine schedule: smooth transition, no sudden jumps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τ=0.5 start: ~exp(2)≈7× weight ratio between best and worst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τ=0.3 end: ~exp(3.3)≈27× ratio — strong single-best pressure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4-Way Adaptive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37744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Route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Condition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Advantage Formula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This Route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1. LowVar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σ ≤ ε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 − batch_mean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Uniform group: use batch baseline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2. AllCorrect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All K correct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A = 0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Nothing to learn: skip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3. EasyDrGRPO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pass &gt; θ=0.50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clip(z, ±2.5)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Easy: z-norm suffices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4. BoK Softmax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Default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(softmax(z/τ)−1/K)×K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Hard: need BoK selection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606040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Routing is DATA-DRIVEN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Typical distribution:  LowVar 7%  |  AllCorrect 15%  |  EasyDrGRPO 47%  |  BoK 31%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Why EasyDrGRPO &amp; θ=0.50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θ=0.50: Empirically validated — below 0.50 too many groups incorrectly routed to EasyDrGRPO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Above 0.50 too few groups get efficient z-norm gradients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0.50 gives 84.7% effective gradient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EasyDrGRPO reserves BoK’s concentrated selection for genuinely hard groups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240280"/>
          <a:ext cx="7955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LowVar%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AllCorr%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EasyDr%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BoK%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0_10 (sparse)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7%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15%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47%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31%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hard_only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3%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5%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25%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67%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mixed (h+e)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5%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38%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47%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Safety &amp; Stability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Mechanism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Implementation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Needed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NaN Guard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nan_to_num(scores, nan=0)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Trajectory failures → NaN rewards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Logit Cap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clamp(logits, ±12.0)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Extreme z → softmax overflow → NaN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τ-Adaptive Floor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τ_eff = max(τ, |z_max|/C)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Prevents over-sharp softmax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Advantage Clip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clamp(A, ±4.0)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Bounds gradient magnitude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Collapse Detection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max(w)&gt;0.9 → mix uniform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Single-traj domination → instability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KL Penalty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β=0.03·D_KL(π‖π_ref)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Prevent policy drift from reference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PPO Clip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clip(r(θ), 1±0.28)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Trust region constraint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eff_intensity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LR×clip×ppo = 5.6e⁻⁷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Sweet spot: 4−6e⁻⁷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Dense Mask Point Reward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28016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Outcome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Condition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Reward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Rationale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HIT (new)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Point in unused mask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1.0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Correct identification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HIT (dup)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Point in used mask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0.0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Penalize re-counting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MISS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Point outside all masks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decay(d)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Distance-based shaping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313432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Why Masks?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RL has no per-step GT points — only GT count. Pre-computed segmentation masks enable dense reward without manual labeling. Mask-based matching handles varying object sizes.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Distance Decay &amp; Answer Reward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005840"/>
            <a:ext cx="7955279" cy="411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50800"/>
          <a:lstStyle/>
          <a:p>
            <a:pPr algn="l"/>
            <a:r>
              <a:rPr sz="1400" b="0" i="1">
                <a:solidFill>
                  <a:srgbClr val="8B2C2C"/>
                </a:solidFill>
                <a:latin typeface="Crimson Pro"/>
              </a:rPr>
              <a:t>Near (d≤0.02): r = exp(−20·d)   |   Far (d&gt;0.02): r = exp(−20·d_f)·exp(−50·(d−d_f))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A1A1A"/>
                </a:solidFill>
                <a:latin typeface="Crimson Pro SemiBold"/>
              </a:rPr>
              <a:t>Trajectory Reward 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7955279" cy="41148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50800"/>
          <a:lstStyle/>
          <a:p>
            <a:pPr algn="l"/>
            <a:r>
              <a:rPr sz="1400" b="0" i="1">
                <a:solidFill>
                  <a:srgbClr val="8B2C2C"/>
                </a:solidFill>
                <a:latin typeface="Crimson Pro"/>
              </a:rPr>
              <a:t>R = 0.6 × R_answer + 0.3 × R_point + 0.1 × R_format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468880"/>
          <a:ext cx="7955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2377440"/>
                <a:gridCol w="2834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Component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Weight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Design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This Weight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R_answer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0.6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Soft decay, cap=0.4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Primary goal is correct count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R_point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0.3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Dense mask per-step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Prevents reward sparsity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R_format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0.1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Binary compliance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Ensures parseable output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Asymmetric Answer Penalty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Direction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k Factor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Penalty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Asymmetric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Over-count (pred&gt;GT)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k=2.0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Heavier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Hallucination worse — counts non-existent objects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Under-count (pred&lt;GT)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k=1.0−1.5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Lighter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Missing is less severe especially large GT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020824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Why 0.6 / 0.3 / 0.1?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Pure answer reward is too sparse for multi-turn RL (one signal per trajectory). Dense point reward (0.3) provides per-step learning. Format (0.1) prevents structural degeneration.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9504"/>
            <a:ext cx="7863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44444"/>
                </a:solidFill>
                <a:latin typeface="Inter"/>
              </a:rPr>
              <a:t>•  Consistency Check: If pred_answer ≠ #pred_points → R_answer × 0.5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Training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39319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Parameter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This Choice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Base Model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Qwen2.5-VL-7B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Strong VLM with point/grounding capability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SFT Pre-train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30k / 3537 steps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Establish counting format before RL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K (rollouts)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16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Enough diversity for softmax advantage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Learning Rate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1e⁻⁶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Part of eff_intensity sweet spot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PPO Epochs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Balance update strength and stability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Clip Ratio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0.28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eff_intensity = LR×clip×ppo = 5.6e⁻⁷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KL Coeff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0.03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Prevent drift while allowing adaptation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τ Schedule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0.5→0.3 cosine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Explore-then-exploit temperature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BOK_CLIP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4.0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Bound advantage magnitude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θ_easy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0.50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Validated optimal routing threshold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Max Turns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11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Cover GT≤10 with margin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Data Strategy — Dataset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828800"/>
                <a:gridCol w="28346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Dataset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Samples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Easy/Med/Hard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Use Case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0_10 (sparse only)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11455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30 / 41 / 29%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V7−V12: sparse counting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hard_only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1808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18 / 40 / 42%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V14: hard data focus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mixed (hard+easy)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5792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17 / 32 / 51%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V14−V16: balanced training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313432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Why Mixed Data?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Pure hard data (V14-hard) showed answer_reward=0.74 but pixmo-test=79.4% (worse than V12). Easy examples provide gradient signal when hard examples are all-wrong. Mixed data maintains BoK routing diversity.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Impact of Data Choice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46304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Experiment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pixmo-test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Finding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44444"/>
                          </a:solidFill>
                          <a:latin typeface="Inter"/>
                        </a:rPr>
                        <a:t>V12 (best)</a:t>
                      </a:r>
                    </a:p>
                  </a:txBody>
                  <a:tcPr anchor="ctr" marL="76200" marR="50800" marT="25400" marB="25400">
                    <a:lnL w="0">
                      <a:noFill/>
                    </a:lnL>
                    <a:lnR w="0">
                      <a:noFill/>
                    </a:lnR>
                    <a:solidFill>
                      <a:srgbClr val="E8E3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44444"/>
                          </a:solidFill>
                          <a:latin typeface="Inter"/>
                        </a:rPr>
                        <a:t>0_10 sparse</a:t>
                      </a:r>
                    </a:p>
                  </a:txBody>
                  <a:tcPr anchor="ctr" marL="76200" marR="50800" marT="25400" marB="25400">
                    <a:lnL w="0">
                      <a:noFill/>
                    </a:lnL>
                    <a:lnR w="0">
                      <a:noFill/>
                    </a:lnR>
                    <a:solidFill>
                      <a:srgbClr val="E8E3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44444"/>
                          </a:solidFill>
                          <a:latin typeface="Inter"/>
                        </a:rPr>
                        <a:t>82.04%</a:t>
                      </a:r>
                    </a:p>
                  </a:txBody>
                  <a:tcPr anchor="ctr" marL="76200" marR="50800" marT="25400" marB="25400">
                    <a:lnL w="0">
                      <a:noFill/>
                    </a:lnL>
                    <a:lnR w="0">
                      <a:noFill/>
                    </a:lnR>
                    <a:solidFill>
                      <a:srgbClr val="E8E3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44444"/>
                          </a:solidFill>
                          <a:latin typeface="Inter"/>
                        </a:rPr>
                        <a:t>Best overall accuracy</a:t>
                      </a:r>
                    </a:p>
                  </a:txBody>
                  <a:tcPr anchor="ctr" marL="76200" marR="50800" marT="25400" marB="25400">
                    <a:lnL w="0">
                      <a:noFill/>
                    </a:lnL>
                    <a:lnR w="0">
                      <a:noFill/>
                    </a:lnR>
                    <a:solidFill>
                      <a:srgbClr val="E8E3D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V14-hard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hard_only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79.40%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Too narrow, overfits to hard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V14-mixed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mixed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80.34%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Better than hard-only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V15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mixed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80.15%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Conservative LR hurts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V7 GRPO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0_10 sparse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80.72%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Standard GRPO baseline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898648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Key Takeaway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eff_intensity matters more than data choice alone. V12 at 5.6e⁻⁷ &gt; V15 at 2.8e⁻⁷ despite same algorithm.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Main Results — Benchmark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26517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pixmo-test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countbench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SFT Base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75.6%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Supervised Only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V7 Std GRPO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80.72%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Standard GRPO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V14 Mixed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80.34%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78.21%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Mixed + BoK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V15 Low-LR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80.15%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79.02%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Conservative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V12 BOK-GRPO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82.04%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79.43%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BOK-GRPO (best)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V12 Detailed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Split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Samples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Accuracy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44444"/>
                          </a:solidFill>
                          <a:latin typeface="Inter"/>
                        </a:rPr>
                        <a:t>Overall</a:t>
                      </a:r>
                    </a:p>
                  </a:txBody>
                  <a:tcPr anchor="ctr" marL="76200" marR="50800" marT="25400" marB="25400">
                    <a:lnL w="0">
                      <a:noFill/>
                    </a:lnL>
                    <a:lnR w="0">
                      <a:noFill/>
                    </a:lnR>
                    <a:solidFill>
                      <a:srgbClr val="E8E3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44444"/>
                          </a:solidFill>
                          <a:latin typeface="Inter"/>
                        </a:rPr>
                        <a:t>529</a:t>
                      </a:r>
                    </a:p>
                  </a:txBody>
                  <a:tcPr anchor="ctr" marL="76200" marR="50800" marT="25400" marB="25400">
                    <a:lnL w="0">
                      <a:noFill/>
                    </a:lnL>
                    <a:lnR w="0">
                      <a:noFill/>
                    </a:lnR>
                    <a:solidFill>
                      <a:srgbClr val="E8E3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444444"/>
                          </a:solidFill>
                          <a:latin typeface="Inter"/>
                        </a:rPr>
                        <a:t>82.04%</a:t>
                      </a:r>
                    </a:p>
                  </a:txBody>
                  <a:tcPr anchor="ctr" marL="76200" marR="50800" marT="25400" marB="25400">
                    <a:lnL w="0">
                      <a:noFill/>
                    </a:lnL>
                    <a:lnR w="0">
                      <a:noFill/>
                    </a:lnR>
                    <a:solidFill>
                      <a:srgbClr val="E8E3D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Easy (GT 0−5)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239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84.10%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Hard (GT 5+)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290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80.34%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With History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529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83.36%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606040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Results Summary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+6.44pp over SFT base.  +1.32pp over Standard GRPO.  pass@1→32 gap reduced from 16.0pp to ~13pp (33% closure).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Ablation — What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82880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Design Choice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Without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With (Ours)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Why It Helps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Interleaved multi-turn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All-at-once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Sequential+feedback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Visual memory via red dots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Dense point reward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Answer-only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+mask point 0.3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Per-step signal prevents sparsity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BoK softmax adv.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Z-norm GRPO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Softmax weighting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+1.32pp: learns from best paths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Mask matching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Distance-only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Hit/miss/duplicate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Size-aware spatial grounding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Consistency check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R_ans×0.5 if ≠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Penalizes contradictory outputs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Soft answer decay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Binary 0/1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exp decay cap=0.4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Finer gradient for wrong answers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τ cosine annealing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Fixed τ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0.5→0.3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Explore→exploit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Finding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Evidence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Implication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+6.44pp over SFT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75.6%→82.04%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RL training effective for counting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+1.32pp over Std GRPO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80.72%→82.04%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BoK advantage &gt; z-norm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pass@1→32 gap −33%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16.0pp→~13pp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Capability collapse working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Zero NaN events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eff_intensity=5.6e⁻⁷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Safety mechanisms sufficient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96.6% format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Maintained throughout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Format reward preserves structure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Routing data-driven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Easy47% BoK31%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θ=0.50 is robust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Stability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eff_intensity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5.6e⁻⁷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✓ In sweet spot [4−6e⁻⁷]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NaN events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✓ Full stability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KL divergence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&lt;0.03 throughout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✓ Controlled drift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Format compliance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96.6%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✓ Structure preserved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Best checkpoint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V12 S178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✓ Early sweet spot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898648"/>
            <a:ext cx="7955279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76200"/>
          <a:lstStyle/>
          <a:p>
            <a:pPr algn="ctr"/>
            <a:r>
              <a:rPr sz="1400" b="1" i="0">
                <a:solidFill>
                  <a:srgbClr val="1A1A1A"/>
                </a:solidFill>
                <a:latin typeface="Crimson Pro"/>
              </a:rPr>
              <a:t>Stability Enables Longer Training</a:t>
            </a:r>
          </a:p>
          <a:p>
            <a:r>
              <a:rPr sz="1200" b="0" i="1">
                <a:solidFill>
                  <a:srgbClr val="444444"/>
                </a:solidFill>
                <a:latin typeface="Inter"/>
              </a:rPr>
              <a:t>All safety mechanisms (NaN guard, logit cap, KL penalty, PPO clip) work together — none alone is sufficient.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05840"/>
          <a:ext cx="7955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Current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Goal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Approach</a:t>
                      </a:r>
                    </a:p>
                  </a:txBody>
                  <a:tcPr anchor="ctr" marL="76200" marR="50800" marT="25400" marB="25400">
                    <a:solidFill>
                      <a:srgbClr val="33335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Sparse accuracy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82.04%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&gt;95%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Improve point precision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Dense accuracy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est.~50%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&gt;50%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Scale to GT&gt;10</a:t>
                      </a:r>
                    </a:p>
                  </a:txBody>
                  <a:tcPr anchor="ctr" marL="76200" marR="50800" marT="25400" marB="25400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pass@1 gap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13pp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&lt;5pp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444444"/>
                          </a:solidFill>
                          <a:latin typeface="Inter"/>
                        </a:rPr>
                        <a:t>Aggressive BoK with curriculum</a:t>
                      </a:r>
                    </a:p>
                  </a:txBody>
                  <a:tcPr anchor="ctr" marL="76200" marR="50800" marT="25400" marB="25400">
                    <a:noFill/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Generalization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pixmo/countbench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Multi-benchmark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Inter"/>
                        </a:rPr>
                        <a:t>Domain transfer</a:t>
                      </a:r>
                    </a:p>
                  </a:txBody>
                  <a:tcPr anchor="ctr" marL="76200" marR="50800" marT="25400" marB="25400">
                    <a:solidFill>
                      <a:srgbClr val="E8E3D9"/>
                    </a:solidFill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2606040"/>
            <a:ext cx="3840480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01600"/>
          <a:lstStyle/>
          <a:p>
            <a:pPr algn="ctr"/>
            <a:r>
              <a:rPr sz="1500" b="1" i="1">
                <a:solidFill>
                  <a:srgbClr val="8B2C2C"/>
                </a:solidFill>
                <a:latin typeface="Crimson Pro"/>
              </a:rPr>
              <a:t>Algorithm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Process reward model (PRM)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Per-turn advantage (GSPO)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Curriculum learning on difficulty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2606040"/>
            <a:ext cx="3840480" cy="117957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27000" tIns="101600"/>
          <a:lstStyle/>
          <a:p>
            <a:pPr algn="ctr"/>
            <a:r>
              <a:rPr sz="1500" b="1" i="1">
                <a:solidFill>
                  <a:srgbClr val="8B2C2C"/>
                </a:solidFill>
                <a:latin typeface="Crimson Pro"/>
              </a:rPr>
              <a:t>Data &amp; Scale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Expand to GT&gt;50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Cross-domain counting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444444"/>
                </a:solidFill>
                <a:latin typeface="Inter"/>
              </a:rPr>
              <a:t>•  Larger base models (14B+)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1A"/>
                </a:solidFill>
                <a:latin typeface="Crimson Pro SemiBold"/>
              </a:rPr>
              <a:t>Appendix — Pseudocode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16000" cy="38100"/>
          </a:xfrm>
          <a:prstGeom prst="rect">
            <a:avLst/>
          </a:prstGeom>
          <a:solidFill>
            <a:srgbClr val="8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005840"/>
            <a:ext cx="7955279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tIns="76200" bIns="762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def bok_grpo_advantage(scores, tau, theta_easy=0.50):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K = len(scores)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mu, sigma = mean(scores), std(scores)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if sigma &lt;= EPS:                    # Route 1: LowVar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    return scores - batch_mean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if all(s &gt; theta for s in scores):  # Route 2: AllCorrect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    return zeros(K)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z = (scores - mu) / sigma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pass_rate = sum(s &gt; theta for s in scores) / 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if pass_rate &gt; theta_easy:          # Route 3: EasyDrGRPO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    return clip(z, -2.5, 2.5)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# Route 4: BoK Softmax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tau_eff = max(tau, max(abs(z))/C, tau_min)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w = softmax(z / tau_eff)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# Collapse detection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if max(w) &gt; 0.9: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    w = 0.85 * w + 0.15 / 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A = (w - 1/K) * 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Consolas"/>
              </a:rPr>
              <a:t>    return clip(A, -BOK_CLIP, BOK_CLIP)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